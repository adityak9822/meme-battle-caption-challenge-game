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ced2699c62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g3ced2699c62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g3ced2699c62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ced2699c62_0_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g3ced2699c62_0_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3ced2699c62_0_5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jp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9.png"/><Relationship Id="rId6" Type="http://schemas.openxmlformats.org/officeDocument/2006/relationships/image" Target="../media/image8.png"/><Relationship Id="rId7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B1A4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1530567" y="1853276"/>
            <a:ext cx="6082800" cy="72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000" lIns="76025" spcFirstLastPara="1" rIns="76025" wrap="square" tIns="3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eorgia"/>
              <a:buNone/>
            </a:pPr>
            <a:r>
              <a:rPr b="1" lang="en-US" sz="32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MemeBattle –</a:t>
            </a:r>
            <a:endParaRPr b="0" i="0" sz="365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1530567" y="2537586"/>
            <a:ext cx="6082800" cy="72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000" lIns="76025" spcFirstLastPara="1" rIns="76025" wrap="square" tIns="3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eorgia"/>
              <a:buNone/>
            </a:pPr>
            <a:r>
              <a:rPr b="1" lang="en-US" sz="32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Caption Challenge Game</a:t>
            </a:r>
            <a:endParaRPr b="0" i="0" sz="365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1371650" y="3393320"/>
            <a:ext cx="6400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C6D9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F3C6D9"/>
                </a:solidFill>
                <a:latin typeface="Calibri"/>
                <a:ea typeface="Calibri"/>
                <a:cs typeface="Calibri"/>
                <a:sym typeface="Calibri"/>
              </a:rPr>
              <a:t>C++ Console Application  ·  Semester II Case Study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3431445" y="3259912"/>
            <a:ext cx="2281200" cy="30300"/>
          </a:xfrm>
          <a:prstGeom prst="rect">
            <a:avLst/>
          </a:prstGeom>
          <a:solidFill>
            <a:srgbClr val="F3C6D9"/>
          </a:solidFill>
          <a:ln cap="flat" cmpd="sng" w="10550">
            <a:solidFill>
              <a:srgbClr val="F3C6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025" lIns="76025" spcFirstLastPara="1" rIns="76025" wrap="square" tIns="76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1371600" y="3840480"/>
            <a:ext cx="6400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C6D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3C6D9"/>
                </a:solidFill>
                <a:latin typeface="Calibri"/>
                <a:ea typeface="Calibri"/>
                <a:cs typeface="Calibri"/>
                <a:sym typeface="Calibri"/>
              </a:rPr>
              <a:t>By  </a:t>
            </a:r>
            <a:r>
              <a:rPr lang="en-US" sz="1300">
                <a:solidFill>
                  <a:srgbClr val="F3C6D9"/>
                </a:solidFill>
                <a:latin typeface="Calibri"/>
                <a:ea typeface="Calibri"/>
                <a:cs typeface="Calibri"/>
                <a:sym typeface="Calibri"/>
              </a:rPr>
              <a:t>Aditya Kadam</a:t>
            </a:r>
            <a:r>
              <a:rPr b="0" i="0" lang="en-US" sz="1300" u="none" cap="none" strike="noStrike">
                <a:solidFill>
                  <a:srgbClr val="F3C6D9"/>
                </a:solidFill>
                <a:latin typeface="Calibri"/>
                <a:ea typeface="Calibri"/>
                <a:cs typeface="Calibri"/>
                <a:sym typeface="Calibri"/>
              </a:rPr>
              <a:t>  ·  Roll No. 150096725122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" name="Google Shape;2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13979" y="4367898"/>
            <a:ext cx="516000" cy="516000"/>
          </a:xfrm>
          <a:prstGeom prst="ellipse">
            <a:avLst/>
          </a:prstGeom>
          <a:noFill/>
          <a:ln>
            <a:noFill/>
          </a:ln>
        </p:spPr>
      </p:pic>
      <p:pic>
        <p:nvPicPr>
          <p:cNvPr descr="preencoded.png" id="22" name="Google Shape;2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13762" y="364709"/>
            <a:ext cx="4516450" cy="143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8B1A4A"/>
          </a:solidFill>
          <a:ln cap="flat" cmpd="sng" w="12700">
            <a:solidFill>
              <a:srgbClr val="8B1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320040" y="73152"/>
            <a:ext cx="4572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Index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" name="Google Shape;3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75120" y="128016"/>
            <a:ext cx="2148840" cy="676656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4"/>
          <p:cNvSpPr/>
          <p:nvPr/>
        </p:nvSpPr>
        <p:spPr>
          <a:xfrm>
            <a:off x="411480" y="1197864"/>
            <a:ext cx="548640" cy="548640"/>
          </a:xfrm>
          <a:prstGeom prst="ellipse">
            <a:avLst/>
          </a:prstGeom>
          <a:solidFill>
            <a:srgbClr val="8B1A4A"/>
          </a:solidFill>
          <a:ln cap="flat" cmpd="sng" w="12700">
            <a:solidFill>
              <a:srgbClr val="8B1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411480" y="1197864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1143000" y="1197864"/>
            <a:ext cx="5943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411480" y="2066544"/>
            <a:ext cx="548640" cy="548640"/>
          </a:xfrm>
          <a:prstGeom prst="ellipse">
            <a:avLst/>
          </a:prstGeom>
          <a:solidFill>
            <a:srgbClr val="8B1A4A"/>
          </a:solidFill>
          <a:ln cap="flat" cmpd="sng" w="12700">
            <a:solidFill>
              <a:srgbClr val="8B1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411480" y="2066544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1143000" y="2066544"/>
            <a:ext cx="5943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My Solution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411480" y="2935224"/>
            <a:ext cx="548640" cy="548640"/>
          </a:xfrm>
          <a:prstGeom prst="ellipse">
            <a:avLst/>
          </a:prstGeom>
          <a:solidFill>
            <a:srgbClr val="8B1A4A"/>
          </a:solidFill>
          <a:ln cap="flat" cmpd="sng" w="12700">
            <a:solidFill>
              <a:srgbClr val="8B1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411480" y="2935224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1143000" y="2935224"/>
            <a:ext cx="5943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Working / Method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11480" y="3803904"/>
            <a:ext cx="548640" cy="548640"/>
          </a:xfrm>
          <a:prstGeom prst="ellipse">
            <a:avLst/>
          </a:prstGeom>
          <a:solidFill>
            <a:srgbClr val="8B1A4A"/>
          </a:solidFill>
          <a:ln cap="flat" cmpd="sng" w="12700">
            <a:solidFill>
              <a:srgbClr val="8B1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411480" y="3803904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1143000" y="3803904"/>
            <a:ext cx="5943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" name="Google Shape;43;p4"/>
          <p:cNvCxnSpPr/>
          <p:nvPr/>
        </p:nvCxnSpPr>
        <p:spPr>
          <a:xfrm>
            <a:off x="411480" y="1865376"/>
            <a:ext cx="7772400" cy="0"/>
          </a:xfrm>
          <a:prstGeom prst="straightConnector1">
            <a:avLst/>
          </a:prstGeom>
          <a:noFill/>
          <a:ln cap="flat" cmpd="sng" w="12700">
            <a:solidFill>
              <a:srgbClr val="E8D5D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" name="Google Shape;44;p4"/>
          <p:cNvCxnSpPr/>
          <p:nvPr/>
        </p:nvCxnSpPr>
        <p:spPr>
          <a:xfrm>
            <a:off x="411480" y="2734056"/>
            <a:ext cx="7772400" cy="0"/>
          </a:xfrm>
          <a:prstGeom prst="straightConnector1">
            <a:avLst/>
          </a:prstGeom>
          <a:noFill/>
          <a:ln cap="flat" cmpd="sng" w="12700">
            <a:solidFill>
              <a:srgbClr val="E8D5D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" name="Google Shape;45;p4"/>
          <p:cNvCxnSpPr/>
          <p:nvPr/>
        </p:nvCxnSpPr>
        <p:spPr>
          <a:xfrm>
            <a:off x="411480" y="3602736"/>
            <a:ext cx="7772400" cy="0"/>
          </a:xfrm>
          <a:prstGeom prst="straightConnector1">
            <a:avLst/>
          </a:prstGeom>
          <a:noFill/>
          <a:ln cap="flat" cmpd="sng" w="12700">
            <a:solidFill>
              <a:srgbClr val="E8D5DE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4F6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8B1A4A"/>
          </a:solidFill>
          <a:ln cap="flat" cmpd="sng" w="12700">
            <a:solidFill>
              <a:srgbClr val="8B1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5"/>
          <p:cNvSpPr/>
          <p:nvPr/>
        </p:nvSpPr>
        <p:spPr>
          <a:xfrm>
            <a:off x="320040" y="109728"/>
            <a:ext cx="7086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01  ·  Problem Statement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3" name="Google Shape;5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0" y="164592"/>
            <a:ext cx="1920240" cy="603504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5"/>
          <p:cNvSpPr/>
          <p:nvPr/>
        </p:nvSpPr>
        <p:spPr>
          <a:xfrm>
            <a:off x="320040" y="1170432"/>
            <a:ext cx="4023360" cy="3703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5"/>
          <p:cNvSpPr/>
          <p:nvPr/>
        </p:nvSpPr>
        <p:spPr>
          <a:xfrm>
            <a:off x="320040" y="1170432"/>
            <a:ext cx="4023360" cy="402336"/>
          </a:xfrm>
          <a:prstGeom prst="rect">
            <a:avLst/>
          </a:prstGeom>
          <a:solidFill>
            <a:srgbClr val="8B1A4A"/>
          </a:solidFill>
          <a:ln cap="flat" cmpd="sng" w="12700">
            <a:solidFill>
              <a:srgbClr val="8B1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5"/>
          <p:cNvSpPr/>
          <p:nvPr/>
        </p:nvSpPr>
        <p:spPr>
          <a:xfrm>
            <a:off x="457200" y="1170432"/>
            <a:ext cx="37490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457200" y="1664208"/>
            <a:ext cx="3749040" cy="3063240"/>
          </a:xfrm>
          <a:prstGeom prst="rect">
            <a:avLst/>
          </a:prstGeom>
          <a:noFill/>
          <a:ln>
            <a:noFill/>
          </a:ln>
        </p:spPr>
        <p:txBody>
          <a:bodyPr anchorCtr="0" anchor="t" bIns="76200" lIns="76200" spcFirstLastPara="1" rIns="76200" wrap="square" tIns="762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Most browser games depend on a server, login system, or a heavy JS framework — adding complexity.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Without persistence, scores and progress vanish when the browser tab is closed.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No unique ID or lifecycle tracking means no way to manage individual game sessions.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4800600" y="1170432"/>
            <a:ext cx="4023360" cy="3703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4800600" y="1170432"/>
            <a:ext cx="4023360" cy="402336"/>
          </a:xfrm>
          <a:prstGeom prst="rect">
            <a:avLst/>
          </a:prstGeom>
          <a:solidFill>
            <a:srgbClr val="C2185B"/>
          </a:solidFill>
          <a:ln cap="flat" cmpd="sng" w="12700">
            <a:solidFill>
              <a:srgbClr val="C218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/>
          <p:nvPr/>
        </p:nvSpPr>
        <p:spPr>
          <a:xfrm>
            <a:off x="4937760" y="1170432"/>
            <a:ext cx="37490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What’s Needed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4937760" y="1664208"/>
            <a:ext cx="3749040" cy="3063240"/>
          </a:xfrm>
          <a:prstGeom prst="rect">
            <a:avLst/>
          </a:prstGeom>
          <a:noFill/>
          <a:ln>
            <a:noFill/>
          </a:ln>
        </p:spPr>
        <p:txBody>
          <a:bodyPr anchorCtr="0" anchor="t" bIns="76200" lIns="76200" spcFirstLastPara="1" rIns="76200" wrap="square" tIns="762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 game that runs by opening a file — no install, no build step, no server needed.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Persistent leaderboard using only browser localStorage — survives across sessions.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Simulated AI voting so each caption gets real-feeling feedback without real opponents.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4F6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6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8B1A4A"/>
          </a:solidFill>
          <a:ln cap="flat" cmpd="sng" w="12700">
            <a:solidFill>
              <a:srgbClr val="8B1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/>
          <p:nvPr/>
        </p:nvSpPr>
        <p:spPr>
          <a:xfrm>
            <a:off x="320040" y="109728"/>
            <a:ext cx="7086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02  ·  My Solution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9" name="Google Shape;6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0" y="164592"/>
            <a:ext cx="1920240" cy="603504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6"/>
          <p:cNvSpPr/>
          <p:nvPr/>
        </p:nvSpPr>
        <p:spPr>
          <a:xfrm>
            <a:off x="320040" y="1170432"/>
            <a:ext cx="4023360" cy="1737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6"/>
          <p:cNvSpPr/>
          <p:nvPr/>
        </p:nvSpPr>
        <p:spPr>
          <a:xfrm>
            <a:off x="320040" y="1170432"/>
            <a:ext cx="109728" cy="1737360"/>
          </a:xfrm>
          <a:prstGeom prst="rect">
            <a:avLst/>
          </a:prstGeom>
          <a:solidFill>
            <a:srgbClr val="8B1A4A"/>
          </a:solidFill>
          <a:ln cap="flat" cmpd="sng" w="12700">
            <a:solidFill>
              <a:srgbClr val="8B1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6"/>
          <p:cNvSpPr/>
          <p:nvPr/>
        </p:nvSpPr>
        <p:spPr>
          <a:xfrm>
            <a:off x="521208" y="1719072"/>
            <a:ext cx="548640" cy="548640"/>
          </a:xfrm>
          <a:prstGeom prst="ellipse">
            <a:avLst/>
          </a:prstGeom>
          <a:solidFill>
            <a:srgbClr val="8B1A4A"/>
          </a:solidFill>
          <a:ln cap="flat" cmpd="sng" w="12700">
            <a:solidFill>
              <a:srgbClr val="8B1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3" name="Google Shape;7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6072" y="1773936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6"/>
          <p:cNvSpPr/>
          <p:nvPr/>
        </p:nvSpPr>
        <p:spPr>
          <a:xfrm>
            <a:off x="1234440" y="1261872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1A4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8B1A4A"/>
                </a:solidFill>
                <a:latin typeface="Calibri"/>
                <a:ea typeface="Calibri"/>
                <a:cs typeface="Calibri"/>
                <a:sym typeface="Calibri"/>
              </a:rPr>
              <a:t>Game Loop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1234440" y="1737360"/>
            <a:ext cx="29260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5 rounds of meme captioning. Each round loads a random meme, fires a 30s SVG countdown, collects a caption then reveals simulated crowd votes.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4800600" y="1170432"/>
            <a:ext cx="4023360" cy="1737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6"/>
          <p:cNvSpPr/>
          <p:nvPr/>
        </p:nvSpPr>
        <p:spPr>
          <a:xfrm>
            <a:off x="4800600" y="1170432"/>
            <a:ext cx="109728" cy="1737360"/>
          </a:xfrm>
          <a:prstGeom prst="rect">
            <a:avLst/>
          </a:prstGeom>
          <a:solidFill>
            <a:srgbClr val="8B1A4A"/>
          </a:solidFill>
          <a:ln cap="flat" cmpd="sng" w="12700">
            <a:solidFill>
              <a:srgbClr val="8B1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6"/>
          <p:cNvSpPr/>
          <p:nvPr/>
        </p:nvSpPr>
        <p:spPr>
          <a:xfrm>
            <a:off x="5001768" y="1719072"/>
            <a:ext cx="548640" cy="548640"/>
          </a:xfrm>
          <a:prstGeom prst="ellipse">
            <a:avLst/>
          </a:prstGeom>
          <a:solidFill>
            <a:srgbClr val="8B1A4A"/>
          </a:solidFill>
          <a:ln cap="flat" cmpd="sng" w="12700">
            <a:solidFill>
              <a:srgbClr val="8B1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9" name="Google Shape;79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56632" y="1773936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6"/>
          <p:cNvSpPr/>
          <p:nvPr/>
        </p:nvSpPr>
        <p:spPr>
          <a:xfrm>
            <a:off x="5715000" y="1261872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1A4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8B1A4A"/>
                </a:solidFill>
                <a:latin typeface="Calibri"/>
                <a:ea typeface="Calibri"/>
                <a:cs typeface="Calibri"/>
                <a:sym typeface="Calibri"/>
              </a:rPr>
              <a:t>Vote Simulation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5715000" y="1737360"/>
            <a:ext cx="29260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Caption length drives quality → likes → LOLs. Longer captions score more likes; LOLs = likes × rand(0.3–1.0). Short captions are penalised.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320040" y="2834640"/>
            <a:ext cx="4023360" cy="1737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6"/>
          <p:cNvSpPr/>
          <p:nvPr/>
        </p:nvSpPr>
        <p:spPr>
          <a:xfrm>
            <a:off x="320040" y="2834640"/>
            <a:ext cx="109728" cy="1737360"/>
          </a:xfrm>
          <a:prstGeom prst="rect">
            <a:avLst/>
          </a:prstGeom>
          <a:solidFill>
            <a:srgbClr val="8B1A4A"/>
          </a:solidFill>
          <a:ln cap="flat" cmpd="sng" w="12700">
            <a:solidFill>
              <a:srgbClr val="8B1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6"/>
          <p:cNvSpPr/>
          <p:nvPr/>
        </p:nvSpPr>
        <p:spPr>
          <a:xfrm>
            <a:off x="521208" y="3383280"/>
            <a:ext cx="548640" cy="548640"/>
          </a:xfrm>
          <a:prstGeom prst="ellipse">
            <a:avLst/>
          </a:prstGeom>
          <a:solidFill>
            <a:srgbClr val="8B1A4A"/>
          </a:solidFill>
          <a:ln cap="flat" cmpd="sng" w="12700">
            <a:solidFill>
              <a:srgbClr val="8B1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5" name="Google Shape;85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6072" y="3438144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6"/>
          <p:cNvSpPr/>
          <p:nvPr/>
        </p:nvSpPr>
        <p:spPr>
          <a:xfrm>
            <a:off x="1234440" y="2926080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1A4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8B1A4A"/>
                </a:solidFill>
                <a:latin typeface="Calibri"/>
                <a:ea typeface="Calibri"/>
                <a:cs typeface="Calibri"/>
                <a:sym typeface="Calibri"/>
              </a:rPr>
              <a:t>Scoring &amp; Ranks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1234440" y="3401568"/>
            <a:ext cx="29260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pts = (Likes×10 + LOLs×8 − Dislikes×5) + TimeLeft×3 + LengthBonus(+50). Tiers: Rookie → Rising Star → Meme Pro → Meme Legend.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4800600" y="2834640"/>
            <a:ext cx="4023360" cy="1737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6"/>
          <p:cNvSpPr/>
          <p:nvPr/>
        </p:nvSpPr>
        <p:spPr>
          <a:xfrm>
            <a:off x="4800600" y="2834640"/>
            <a:ext cx="109728" cy="1737360"/>
          </a:xfrm>
          <a:prstGeom prst="rect">
            <a:avLst/>
          </a:prstGeom>
          <a:solidFill>
            <a:srgbClr val="8B1A4A"/>
          </a:solidFill>
          <a:ln cap="flat" cmpd="sng" w="12700">
            <a:solidFill>
              <a:srgbClr val="8B1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6"/>
          <p:cNvSpPr/>
          <p:nvPr/>
        </p:nvSpPr>
        <p:spPr>
          <a:xfrm>
            <a:off x="5001768" y="3383280"/>
            <a:ext cx="548640" cy="548640"/>
          </a:xfrm>
          <a:prstGeom prst="ellipse">
            <a:avLst/>
          </a:prstGeom>
          <a:solidFill>
            <a:srgbClr val="8B1A4A"/>
          </a:solidFill>
          <a:ln cap="flat" cmpd="sng" w="12700">
            <a:solidFill>
              <a:srgbClr val="8B1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1" name="Google Shape;91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56632" y="3438144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6"/>
          <p:cNvSpPr/>
          <p:nvPr/>
        </p:nvSpPr>
        <p:spPr>
          <a:xfrm>
            <a:off x="5715000" y="2926080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1A4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8B1A4A"/>
                </a:solidFill>
                <a:latin typeface="Calibri"/>
                <a:ea typeface="Calibri"/>
                <a:cs typeface="Calibri"/>
                <a:sym typeface="Calibri"/>
              </a:rPr>
              <a:t>Leaderboard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5715000" y="3401568"/>
            <a:ext cx="29260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Scores saved to localStorage (key: memeLB). Top 20 stored, top 10 displayed on home page. Persists across browser sessions — zero server needed.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4F6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7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8B1A4A"/>
          </a:solidFill>
          <a:ln cap="flat" cmpd="sng" w="12700">
            <a:solidFill>
              <a:srgbClr val="8B1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7"/>
          <p:cNvSpPr/>
          <p:nvPr/>
        </p:nvSpPr>
        <p:spPr>
          <a:xfrm>
            <a:off x="320040" y="109728"/>
            <a:ext cx="7086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03  ·  Working  /  Method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1" name="Google Shape;10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0" y="164592"/>
            <a:ext cx="1920240" cy="60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7"/>
          <p:cNvSpPr/>
          <p:nvPr/>
        </p:nvSpPr>
        <p:spPr>
          <a:xfrm>
            <a:off x="320040" y="1371600"/>
            <a:ext cx="1353312" cy="1463040"/>
          </a:xfrm>
          <a:prstGeom prst="rect">
            <a:avLst/>
          </a:prstGeom>
          <a:solidFill>
            <a:srgbClr val="8B1A4A"/>
          </a:solidFill>
          <a:ln cap="flat" cmpd="sng" w="12700">
            <a:solidFill>
              <a:srgbClr val="8B1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7"/>
          <p:cNvSpPr/>
          <p:nvPr/>
        </p:nvSpPr>
        <p:spPr>
          <a:xfrm>
            <a:off x="722376" y="1481328"/>
            <a:ext cx="548640" cy="548640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7"/>
          <p:cNvSpPr/>
          <p:nvPr/>
        </p:nvSpPr>
        <p:spPr>
          <a:xfrm>
            <a:off x="722376" y="148132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1A4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8B1A4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356616" y="2084832"/>
            <a:ext cx="1280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User Input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356616" y="2344522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C6D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3C6D9"/>
                </a:solidFill>
                <a:latin typeface="Calibri"/>
                <a:ea typeface="Calibri"/>
                <a:cs typeface="Calibri"/>
                <a:sym typeface="Calibri"/>
              </a:rPr>
              <a:t>Username,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C6D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3C6D9"/>
                </a:solidFill>
                <a:latin typeface="Calibri"/>
                <a:ea typeface="Calibri"/>
                <a:cs typeface="Calibri"/>
                <a:sym typeface="Calibri"/>
              </a:rPr>
              <a:t>meme round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2039112" y="1371600"/>
            <a:ext cx="1353312" cy="1463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7"/>
          <p:cNvSpPr/>
          <p:nvPr/>
        </p:nvSpPr>
        <p:spPr>
          <a:xfrm>
            <a:off x="2441448" y="1481328"/>
            <a:ext cx="548640" cy="548640"/>
          </a:xfrm>
          <a:prstGeom prst="ellipse">
            <a:avLst/>
          </a:prstGeom>
          <a:solidFill>
            <a:srgbClr val="8B1A4A"/>
          </a:solidFill>
          <a:ln cap="flat" cmpd="sng" w="12700">
            <a:solidFill>
              <a:srgbClr val="8B1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7"/>
          <p:cNvSpPr/>
          <p:nvPr/>
        </p:nvSpPr>
        <p:spPr>
          <a:xfrm>
            <a:off x="2441448" y="148132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2075688" y="2084832"/>
            <a:ext cx="1280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Validate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2075688" y="2344522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Caption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not empty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3758184" y="1371600"/>
            <a:ext cx="1353312" cy="1463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7"/>
          <p:cNvSpPr/>
          <p:nvPr/>
        </p:nvSpPr>
        <p:spPr>
          <a:xfrm>
            <a:off x="4160520" y="1481328"/>
            <a:ext cx="548640" cy="548640"/>
          </a:xfrm>
          <a:prstGeom prst="ellipse">
            <a:avLst/>
          </a:prstGeom>
          <a:solidFill>
            <a:srgbClr val="8B1A4A"/>
          </a:solidFill>
          <a:ln cap="flat" cmpd="sng" w="12700">
            <a:solidFill>
              <a:srgbClr val="8B1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7"/>
          <p:cNvSpPr/>
          <p:nvPr/>
        </p:nvSpPr>
        <p:spPr>
          <a:xfrm>
            <a:off x="4160520" y="148132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3794760" y="2084832"/>
            <a:ext cx="1280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Simulate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3794760" y="2344522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Votes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generated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5477256" y="1371600"/>
            <a:ext cx="1353312" cy="1463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"/>
          <p:cNvSpPr/>
          <p:nvPr/>
        </p:nvSpPr>
        <p:spPr>
          <a:xfrm>
            <a:off x="5879592" y="1481328"/>
            <a:ext cx="548640" cy="548640"/>
          </a:xfrm>
          <a:prstGeom prst="ellipse">
            <a:avLst/>
          </a:prstGeom>
          <a:solidFill>
            <a:srgbClr val="8B1A4A"/>
          </a:solidFill>
          <a:ln cap="flat" cmpd="sng" w="12700">
            <a:solidFill>
              <a:srgbClr val="8B1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"/>
          <p:cNvSpPr/>
          <p:nvPr/>
        </p:nvSpPr>
        <p:spPr>
          <a:xfrm>
            <a:off x="5879592" y="148132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5513832" y="2084832"/>
            <a:ext cx="1280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Score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5513832" y="2344522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Formula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applied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7196328" y="1371600"/>
            <a:ext cx="1353312" cy="1463040"/>
          </a:xfrm>
          <a:prstGeom prst="rect">
            <a:avLst/>
          </a:prstGeom>
          <a:solidFill>
            <a:srgbClr val="8B1A4A"/>
          </a:solidFill>
          <a:ln cap="flat" cmpd="sng" w="12700">
            <a:solidFill>
              <a:srgbClr val="8B1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7"/>
          <p:cNvSpPr/>
          <p:nvPr/>
        </p:nvSpPr>
        <p:spPr>
          <a:xfrm>
            <a:off x="7598664" y="1481328"/>
            <a:ext cx="548640" cy="548640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"/>
          <p:cNvSpPr/>
          <p:nvPr/>
        </p:nvSpPr>
        <p:spPr>
          <a:xfrm>
            <a:off x="7598664" y="148132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1A4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8B1A4A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7232904" y="2084832"/>
            <a:ext cx="1280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Save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7232904" y="2344522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C6D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3C6D9"/>
                </a:solidFill>
                <a:latin typeface="Calibri"/>
                <a:ea typeface="Calibri"/>
                <a:cs typeface="Calibri"/>
                <a:sym typeface="Calibri"/>
              </a:rPr>
              <a:t>localStorage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C6D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3C6D9"/>
                </a:solidFill>
                <a:latin typeface="Calibri"/>
                <a:ea typeface="Calibri"/>
                <a:cs typeface="Calibri"/>
                <a:sym typeface="Calibri"/>
              </a:rPr>
              <a:t>updated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7" name="Google Shape;127;p7"/>
          <p:cNvCxnSpPr/>
          <p:nvPr/>
        </p:nvCxnSpPr>
        <p:spPr>
          <a:xfrm>
            <a:off x="1709928" y="2103120"/>
            <a:ext cx="292608" cy="0"/>
          </a:xfrm>
          <a:prstGeom prst="straightConnector1">
            <a:avLst/>
          </a:prstGeom>
          <a:noFill/>
          <a:ln cap="flat" cmpd="sng" w="12700">
            <a:solidFill>
              <a:srgbClr val="8B1A4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8" name="Google Shape;128;p7"/>
          <p:cNvSpPr/>
          <p:nvPr/>
        </p:nvSpPr>
        <p:spPr>
          <a:xfrm>
            <a:off x="1783080" y="1938528"/>
            <a:ext cx="274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1A4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1A4A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9" name="Google Shape;129;p7"/>
          <p:cNvCxnSpPr/>
          <p:nvPr/>
        </p:nvCxnSpPr>
        <p:spPr>
          <a:xfrm>
            <a:off x="3429000" y="2103120"/>
            <a:ext cx="292608" cy="0"/>
          </a:xfrm>
          <a:prstGeom prst="straightConnector1">
            <a:avLst/>
          </a:prstGeom>
          <a:noFill/>
          <a:ln cap="flat" cmpd="sng" w="12700">
            <a:solidFill>
              <a:srgbClr val="8B1A4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0" name="Google Shape;130;p7"/>
          <p:cNvSpPr/>
          <p:nvPr/>
        </p:nvSpPr>
        <p:spPr>
          <a:xfrm>
            <a:off x="3502152" y="1938528"/>
            <a:ext cx="274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1A4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1A4A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1" name="Google Shape;131;p7"/>
          <p:cNvCxnSpPr/>
          <p:nvPr/>
        </p:nvCxnSpPr>
        <p:spPr>
          <a:xfrm>
            <a:off x="5148072" y="2103120"/>
            <a:ext cx="292608" cy="0"/>
          </a:xfrm>
          <a:prstGeom prst="straightConnector1">
            <a:avLst/>
          </a:prstGeom>
          <a:noFill/>
          <a:ln cap="flat" cmpd="sng" w="12700">
            <a:solidFill>
              <a:srgbClr val="8B1A4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2" name="Google Shape;132;p7"/>
          <p:cNvSpPr/>
          <p:nvPr/>
        </p:nvSpPr>
        <p:spPr>
          <a:xfrm>
            <a:off x="5221224" y="1938528"/>
            <a:ext cx="274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1A4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1A4A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3" name="Google Shape;133;p7"/>
          <p:cNvCxnSpPr/>
          <p:nvPr/>
        </p:nvCxnSpPr>
        <p:spPr>
          <a:xfrm>
            <a:off x="6867144" y="2103120"/>
            <a:ext cx="292608" cy="0"/>
          </a:xfrm>
          <a:prstGeom prst="straightConnector1">
            <a:avLst/>
          </a:prstGeom>
          <a:noFill/>
          <a:ln cap="flat" cmpd="sng" w="12700">
            <a:solidFill>
              <a:srgbClr val="8B1A4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4" name="Google Shape;134;p7"/>
          <p:cNvSpPr/>
          <p:nvPr/>
        </p:nvSpPr>
        <p:spPr>
          <a:xfrm>
            <a:off x="6940296" y="1938528"/>
            <a:ext cx="274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1A4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1A4A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320040" y="3246120"/>
            <a:ext cx="8503920" cy="640080"/>
          </a:xfrm>
          <a:prstGeom prst="rect">
            <a:avLst/>
          </a:prstGeom>
          <a:solidFill>
            <a:srgbClr val="F3E5EC"/>
          </a:solidFill>
          <a:ln cap="flat" cmpd="sng" w="12700">
            <a:solidFill>
              <a:srgbClr val="F3E5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"/>
          <p:cNvSpPr/>
          <p:nvPr/>
        </p:nvSpPr>
        <p:spPr>
          <a:xfrm>
            <a:off x="457200" y="32461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1A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8B1A4A"/>
                </a:solidFill>
                <a:latin typeface="Calibri"/>
                <a:ea typeface="Calibri"/>
                <a:cs typeface="Calibri"/>
                <a:sym typeface="Calibri"/>
              </a:rPr>
              <a:t>Tech Stack:  </a:t>
            </a:r>
            <a:r>
              <a:rPr b="0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HTML5   ·   CSS3   ·   </a:t>
            </a:r>
            <a:r>
              <a:rPr lang="en-US" sz="13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r>
              <a:rPr b="0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   ·   localStorage API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320040" y="4005072"/>
            <a:ext cx="8503920" cy="640080"/>
          </a:xfrm>
          <a:prstGeom prst="rect">
            <a:avLst/>
          </a:prstGeom>
          <a:solidFill>
            <a:srgbClr val="8B1A4A"/>
          </a:solidFill>
          <a:ln cap="flat" cmpd="sng" w="12700">
            <a:solidFill>
              <a:srgbClr val="8B1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"/>
          <p:cNvSpPr/>
          <p:nvPr/>
        </p:nvSpPr>
        <p:spPr>
          <a:xfrm>
            <a:off x="457200" y="4005072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C6D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3C6D9"/>
                </a:solidFill>
                <a:latin typeface="Calibri"/>
                <a:ea typeface="Calibri"/>
                <a:cs typeface="Calibri"/>
                <a:sym typeface="Calibri"/>
              </a:rPr>
              <a:t>Key Algorithms:  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Vote Simulation  ·  Score Formula  ·  No-Repeat Meme Shuffle  ·  countUp() Animator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4F6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8B1A4A"/>
          </a:solidFill>
          <a:ln cap="flat" cmpd="sng" w="12700">
            <a:solidFill>
              <a:srgbClr val="8B1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8"/>
          <p:cNvSpPr/>
          <p:nvPr/>
        </p:nvSpPr>
        <p:spPr>
          <a:xfrm>
            <a:off x="320040" y="109728"/>
            <a:ext cx="7086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04  ·  Conclusion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6" name="Google Shape;14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0" y="164592"/>
            <a:ext cx="1920240" cy="60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8"/>
          <p:cNvSpPr/>
          <p:nvPr/>
        </p:nvSpPr>
        <p:spPr>
          <a:xfrm>
            <a:off x="320040" y="1170432"/>
            <a:ext cx="2743200" cy="3703320"/>
          </a:xfrm>
          <a:prstGeom prst="rect">
            <a:avLst/>
          </a:prstGeom>
          <a:solidFill>
            <a:srgbClr val="8B1A4A"/>
          </a:solidFill>
          <a:ln cap="flat" cmpd="sng" w="12700">
            <a:solidFill>
              <a:srgbClr val="8B1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8"/>
          <p:cNvSpPr/>
          <p:nvPr/>
        </p:nvSpPr>
        <p:spPr>
          <a:xfrm>
            <a:off x="320040" y="1242200"/>
            <a:ext cx="27432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0"/>
              <a:buFont typeface="Georgia"/>
              <a:buNone/>
            </a:pPr>
            <a:r>
              <a:rPr b="1" i="0" lang="en-US" sz="9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5</a:t>
            </a:r>
            <a:endParaRPr b="0" i="0" sz="9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320040" y="2651760"/>
            <a:ext cx="2743200" cy="777240"/>
          </a:xfrm>
          <a:prstGeom prst="rect">
            <a:avLst/>
          </a:prstGeom>
          <a:solidFill>
            <a:srgbClr val="F3C6D9"/>
          </a:solidFill>
          <a:ln cap="flat" cmpd="sng" w="12700">
            <a:solidFill>
              <a:srgbClr val="F3C6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8"/>
          <p:cNvSpPr/>
          <p:nvPr/>
        </p:nvSpPr>
        <p:spPr>
          <a:xfrm>
            <a:off x="320040" y="2651760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1A4A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8B1A4A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b="0" i="0" lang="en-US" sz="1500" u="none" cap="none" strike="noStrike">
                <a:solidFill>
                  <a:srgbClr val="8B1A4A"/>
                </a:solidFill>
                <a:latin typeface="Calibri"/>
                <a:ea typeface="Calibri"/>
                <a:cs typeface="Calibri"/>
                <a:sym typeface="Calibri"/>
              </a:rPr>
              <a:t>iles</a:t>
            </a:r>
            <a:br>
              <a:rPr lang="en-US" sz="1500">
                <a:solidFill>
                  <a:srgbClr val="8B1A4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>
                <a:solidFill>
                  <a:srgbClr val="8B1A4A"/>
                </a:solidFill>
                <a:latin typeface="Calibri"/>
                <a:ea typeface="Calibri"/>
                <a:cs typeface="Calibri"/>
                <a:sym typeface="Calibri"/>
              </a:rPr>
              <a:t>Zer0</a:t>
            </a:r>
            <a:r>
              <a:rPr b="0" i="0" lang="en-US" sz="1500" u="none" cap="none" strike="noStrike">
                <a:solidFill>
                  <a:srgbClr val="8B1A4A"/>
                </a:solidFill>
                <a:latin typeface="Calibri"/>
                <a:ea typeface="Calibri"/>
                <a:cs typeface="Calibri"/>
                <a:sym typeface="Calibri"/>
              </a:rPr>
              <a:t> servers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1" name="Google Shape;151;p8"/>
          <p:cNvCxnSpPr/>
          <p:nvPr/>
        </p:nvCxnSpPr>
        <p:spPr>
          <a:xfrm>
            <a:off x="640080" y="3520440"/>
            <a:ext cx="2103120" cy="0"/>
          </a:xfrm>
          <a:prstGeom prst="straightConnector1">
            <a:avLst/>
          </a:prstGeom>
          <a:noFill/>
          <a:ln cap="flat" cmpd="sng" w="12700">
            <a:solidFill>
              <a:srgbClr val="F3C6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2" name="Google Shape;152;p8"/>
          <p:cNvSpPr/>
          <p:nvPr/>
        </p:nvSpPr>
        <p:spPr>
          <a:xfrm>
            <a:off x="320040" y="3657600"/>
            <a:ext cx="2743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Unlimited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 IDs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3337560" y="1170432"/>
            <a:ext cx="5394960" cy="777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8"/>
          <p:cNvSpPr/>
          <p:nvPr/>
        </p:nvSpPr>
        <p:spPr>
          <a:xfrm>
            <a:off x="3337560" y="1170432"/>
            <a:ext cx="91440" cy="777240"/>
          </a:xfrm>
          <a:prstGeom prst="rect">
            <a:avLst/>
          </a:prstGeom>
          <a:solidFill>
            <a:srgbClr val="8B1A4A"/>
          </a:solidFill>
          <a:ln cap="flat" cmpd="sng" w="12700">
            <a:solidFill>
              <a:srgbClr val="8B1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8"/>
          <p:cNvSpPr/>
          <p:nvPr/>
        </p:nvSpPr>
        <p:spPr>
          <a:xfrm>
            <a:off x="3547872" y="1207008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1A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B1A4A"/>
                </a:solidFill>
                <a:latin typeface="Calibri"/>
                <a:ea typeface="Calibri"/>
                <a:cs typeface="Calibri"/>
                <a:sym typeface="Calibri"/>
              </a:rPr>
              <a:t>Tested: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3547872" y="1554480"/>
            <a:ext cx="5029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All 5 game rounds verified — loop, vote simulation, scoring, leaderboard save and rank badges all work correctly.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3337560" y="2084832"/>
            <a:ext cx="5394960" cy="777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8"/>
          <p:cNvSpPr/>
          <p:nvPr/>
        </p:nvSpPr>
        <p:spPr>
          <a:xfrm>
            <a:off x="3337560" y="2084832"/>
            <a:ext cx="91440" cy="777240"/>
          </a:xfrm>
          <a:prstGeom prst="rect">
            <a:avLst/>
          </a:prstGeom>
          <a:solidFill>
            <a:srgbClr val="8B1A4A"/>
          </a:solidFill>
          <a:ln cap="flat" cmpd="sng" w="12700">
            <a:solidFill>
              <a:srgbClr val="8B1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8"/>
          <p:cNvSpPr/>
          <p:nvPr/>
        </p:nvSpPr>
        <p:spPr>
          <a:xfrm>
            <a:off x="3547872" y="2121408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1A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B1A4A"/>
                </a:solidFill>
                <a:latin typeface="Calibri"/>
                <a:ea typeface="Calibri"/>
                <a:cs typeface="Calibri"/>
                <a:sym typeface="Calibri"/>
              </a:rPr>
              <a:t>Polished: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3547872" y="2468880"/>
            <a:ext cx="5029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Dark arcade UI with SVG countdown ring, floating score popups and animated vote counters give it a finished product feel.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3337560" y="2999232"/>
            <a:ext cx="5394960" cy="777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8"/>
          <p:cNvSpPr/>
          <p:nvPr/>
        </p:nvSpPr>
        <p:spPr>
          <a:xfrm>
            <a:off x="3337560" y="2999232"/>
            <a:ext cx="91440" cy="777240"/>
          </a:xfrm>
          <a:prstGeom prst="rect">
            <a:avLst/>
          </a:prstGeom>
          <a:solidFill>
            <a:srgbClr val="8B1A4A"/>
          </a:solidFill>
          <a:ln cap="flat" cmpd="sng" w="12700">
            <a:solidFill>
              <a:srgbClr val="8B1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8"/>
          <p:cNvSpPr/>
          <p:nvPr/>
        </p:nvSpPr>
        <p:spPr>
          <a:xfrm>
            <a:off x="3547872" y="3035808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1A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B1A4A"/>
                </a:solidFill>
                <a:latin typeface="Calibri"/>
                <a:ea typeface="Calibri"/>
                <a:cs typeface="Calibri"/>
                <a:sym typeface="Calibri"/>
              </a:rPr>
              <a:t>Scalable: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3547872" y="3383280"/>
            <a:ext cx="5029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New meme</a:t>
            </a:r>
            <a:r>
              <a:rPr lang="en-US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every</a:t>
            </a: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rounds or scoring tweaks need one array or formula edit — the 5-file structure keeps complexity manageable.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3337560" y="3913632"/>
            <a:ext cx="5394960" cy="777240"/>
          </a:xfrm>
          <a:prstGeom prst="rect">
            <a:avLst/>
          </a:prstGeom>
          <a:solidFill>
            <a:srgbClr val="F3E5EC"/>
          </a:solidFill>
          <a:ln cap="flat" cmpd="sng" w="12700">
            <a:solidFill>
              <a:srgbClr val="F3E5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"/>
          <p:cNvSpPr/>
          <p:nvPr/>
        </p:nvSpPr>
        <p:spPr>
          <a:xfrm>
            <a:off x="3337560" y="3913632"/>
            <a:ext cx="91440" cy="777240"/>
          </a:xfrm>
          <a:prstGeom prst="rect">
            <a:avLst/>
          </a:prstGeom>
          <a:solidFill>
            <a:srgbClr val="C2185B"/>
          </a:solidFill>
          <a:ln cap="flat" cmpd="sng" w="12700">
            <a:solidFill>
              <a:srgbClr val="C218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8"/>
          <p:cNvSpPr/>
          <p:nvPr/>
        </p:nvSpPr>
        <p:spPr>
          <a:xfrm>
            <a:off x="3547872" y="3950208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85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2185B"/>
                </a:solidFill>
                <a:latin typeface="Calibri"/>
                <a:ea typeface="Calibri"/>
                <a:cs typeface="Calibri"/>
                <a:sym typeface="Calibri"/>
              </a:rPr>
              <a:t>Next Steps: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3547872" y="4281505"/>
            <a:ext cx="5029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Add real multiplayer backend, file persistence, custom meme uploads, delete/archive feature, and PWA support.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B1A4A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74" name="Google Shape;17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13787" y="781759"/>
            <a:ext cx="4516450" cy="143705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9"/>
          <p:cNvSpPr/>
          <p:nvPr/>
        </p:nvSpPr>
        <p:spPr>
          <a:xfrm>
            <a:off x="1313250" y="2428750"/>
            <a:ext cx="6517500" cy="97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725" lIns="81450" spcFirstLastPara="1" rIns="81450" wrap="square" tIns="407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167"/>
              <a:buFont typeface="Georgia"/>
              <a:buNone/>
            </a:pPr>
            <a:r>
              <a:rPr b="1" i="0" lang="en-US" sz="5167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Thank You</a:t>
            </a:r>
            <a:endParaRPr b="0" i="0" sz="516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3349938" y="3447088"/>
            <a:ext cx="2444100" cy="32700"/>
          </a:xfrm>
          <a:prstGeom prst="rect">
            <a:avLst/>
          </a:prstGeom>
          <a:solidFill>
            <a:srgbClr val="F3C6D9"/>
          </a:solidFill>
          <a:ln cap="flat" cmpd="sng" w="11325">
            <a:solidFill>
              <a:srgbClr val="F3C6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450" lIns="81450" spcFirstLastPara="1" rIns="81450" wrap="square" tIns="8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9"/>
          <p:cNvSpPr/>
          <p:nvPr/>
        </p:nvSpPr>
        <p:spPr>
          <a:xfrm>
            <a:off x="1371600" y="3923745"/>
            <a:ext cx="6400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C6D9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3C6D9"/>
                </a:solidFill>
                <a:latin typeface="Calibri"/>
                <a:ea typeface="Calibri"/>
                <a:cs typeface="Calibri"/>
                <a:sym typeface="Calibri"/>
              </a:rPr>
              <a:t>HTML · CSS</a:t>
            </a:r>
            <a:r>
              <a:rPr b="0" i="0" lang="en-US" sz="1200" u="none" cap="none" strike="noStrike">
                <a:solidFill>
                  <a:srgbClr val="F3C6D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>
                <a:solidFill>
                  <a:srgbClr val="F3C6D9"/>
                </a:solidFill>
                <a:latin typeface="Calibri"/>
                <a:ea typeface="Calibri"/>
                <a:cs typeface="Calibri"/>
                <a:sym typeface="Calibri"/>
              </a:rPr>
              <a:t>· JavaScript</a:t>
            </a:r>
            <a:r>
              <a:rPr b="0" i="0" lang="en-US" sz="1200" u="none" cap="none" strike="noStrike">
                <a:solidFill>
                  <a:srgbClr val="F3C6D9"/>
                </a:solidFill>
                <a:latin typeface="Calibri"/>
                <a:ea typeface="Calibri"/>
                <a:cs typeface="Calibri"/>
                <a:sym typeface="Calibri"/>
              </a:rPr>
              <a:t> · </a:t>
            </a:r>
            <a:r>
              <a:rPr lang="en-US" sz="1200">
                <a:solidFill>
                  <a:srgbClr val="F3C6D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200" u="none" cap="none" strike="noStrike">
                <a:solidFill>
                  <a:srgbClr val="F3C6D9"/>
                </a:solidFill>
                <a:latin typeface="Calibri"/>
                <a:ea typeface="Calibri"/>
                <a:cs typeface="Calibri"/>
                <a:sym typeface="Calibri"/>
              </a:rPr>
              <a:t>Semester II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8" name="Google Shape;178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9115" y="4526280"/>
            <a:ext cx="365700" cy="3657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